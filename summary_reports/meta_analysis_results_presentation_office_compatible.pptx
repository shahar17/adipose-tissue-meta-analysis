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3333500" cy="7500000" type="wide"/>
  <p:notesSz cx="6858000" cy="9144000"/>
  <p:defaultTextStyle>
    <a:defPPr>
      <a:defRPr lang="en-US"/>
    </a:defPPr>
    <a:lvl1pPr marL="0" algn="l" defTabSz="914400" rtl="0" eaLnBrk="1" fontAlgn="base" hangingPunct="1">
      <a:defRPr sz="1800" kern="1200">
        <a:solidFill>
          <a:schemeClr val="tx1"/>
        </a:solidFill>
        <a:latin typeface="Apto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latin typeface="Aptos Display"/>
        </a:defRPr>
      </a:lvl1pPr>
    </p:titleStyle>
    <p:bodyStyle>
      <a:lvl1pPr algn="l">
        <a:defRPr sz="1800">
          <a:latin typeface="Aptos"/>
        </a:defRPr>
      </a:lvl1pPr>
    </p:bodyStyle>
    <p:otherStyle>
      <a:lvl1pPr algn="l">
        <a:defRPr sz="1800">
          <a:latin typeface="Apto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isma_like_analysis_flow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OE_forest_plot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eave_one_study_out_sensitivity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sistent_up_down_gene_network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nd"/>
          <p:cNvSpPr/>
          <p:nvPr/>
        </p:nvSpPr>
        <p:spPr>
          <a:xfrm>
            <a:off x="0" y="0"/>
            <a:ext cx="3794760" cy="7500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3" name="accent"/>
          <p:cNvSpPr/>
          <p:nvPr/>
        </p:nvSpPr>
        <p:spPr>
          <a:xfrm>
            <a:off x="502920" y="5230368"/>
            <a:ext cx="19659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4" name="cover-kicker"/>
          <p:cNvSpPr/>
          <p:nvPr/>
        </p:nvSpPr>
        <p:spPr>
          <a:xfrm>
            <a:off x="594360" y="7772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93C5FD"/>
                </a:solidFill>
              </a:rPr>
              <a:t>ADIPOSE TRANSCRIPTOMICS</a:t>
            </a:r>
          </a:p>
        </p:txBody>
      </p:sp>
      <p:sp>
        <p:nvSpPr>
          <p:cNvPr id="5" name="cover-title"/>
          <p:cNvSpPr/>
          <p:nvPr/>
        </p:nvSpPr>
        <p:spPr>
          <a:xfrm>
            <a:off x="594360" y="123444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400" dirty="0">
                <a:b/>
                <a:solidFill>
                  <a:srgbClr val="FFFFFF"/>
                </a:solidFill>
              </a:rPr>
              <a:t>Meta-analysis results</a:t>
            </a:r>
          </a:p>
        </p:txBody>
      </p:sp>
      <p:sp>
        <p:nvSpPr>
          <p:cNvPr id="6" name="cover-subtitle"/>
          <p:cNvSpPr/>
          <p:nvPr/>
        </p:nvSpPr>
        <p:spPr>
          <a:xfrm>
            <a:off x="621792" y="32461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</a:rPr>
              <a:t>Exercise and lifestyle intervention signals across GEO cohorts</a:t>
            </a:r>
          </a:p>
        </p:txBody>
      </p:sp>
      <p:sp>
        <p:nvSpPr>
          <p:cNvPr id="7" name="cover-date"/>
          <p:cNvSpPr/>
          <p:nvPr/>
        </p:nvSpPr>
        <p:spPr>
          <a:xfrm>
            <a:off x="621792" y="54864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100" dirty="0">
                <a:solidFill>
                  <a:srgbClr val="94A3B8"/>
                </a:solidFill>
              </a:rPr>
              <a:t>Generated from current pipeline outputs</a:t>
            </a:r>
          </a:p>
        </p:txBody>
      </p:sp>
      <p:sp>
        <p:nvSpPr>
          <p:cNvPr id="20" name="metric-studies"/>
          <p:cNvSpPr/>
          <p:nvPr/>
        </p:nvSpPr>
        <p:spPr>
          <a:xfrm>
            <a:off x="4343400" y="114300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900" dirty="0">
                <a:b/>
                <a:solidFill>
                  <a:srgbClr val="2563EB"/>
                </a:solidFill>
              </a:rPr>
              <a:t>5</a:t>
            </a:r>
          </a:p>
          <a:p>
            <a:pPr algn="l"/>
            <a:r>
              <a:rPr lang="en-US" sz="1300" dirty="0">
                <a:solidFill>
                  <a:srgbClr val="64748B"/>
                </a:solidFill>
              </a:rPr>
              <a:t>studies</a:t>
            </a:r>
          </a:p>
        </p:txBody>
      </p:sp>
      <p:sp>
        <p:nvSpPr>
          <p:cNvPr id="21" name="metric-meta-analyzed genes"/>
          <p:cNvSpPr/>
          <p:nvPr/>
        </p:nvSpPr>
        <p:spPr>
          <a:xfrm>
            <a:off x="7863840" y="114300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900" dirty="0">
                <a:b/>
                <a:solidFill>
                  <a:srgbClr val="0F766E"/>
                </a:solidFill>
              </a:rPr>
              <a:t>29,193</a:t>
            </a:r>
          </a:p>
          <a:p>
            <a:pPr algn="l"/>
            <a:r>
              <a:rPr lang="en-US" sz="1300" dirty="0">
                <a:solidFill>
                  <a:srgbClr val="64748B"/>
                </a:solidFill>
              </a:rPr>
              <a:t>meta-analyzed genes</a:t>
            </a:r>
          </a:p>
        </p:txBody>
      </p:sp>
      <p:sp>
        <p:nvSpPr>
          <p:cNvPr id="22" name="metric-strict genes"/>
          <p:cNvSpPr/>
          <p:nvPr/>
        </p:nvSpPr>
        <p:spPr>
          <a:xfrm>
            <a:off x="4343400" y="329184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900" dirty="0">
                <a:b/>
                <a:solidFill>
                  <a:srgbClr val="D97706"/>
                </a:solidFill>
              </a:rPr>
              <a:t>12</a:t>
            </a:r>
          </a:p>
          <a:p>
            <a:pPr algn="l"/>
            <a:r>
              <a:rPr lang="en-US" sz="1300" dirty="0">
                <a:solidFill>
                  <a:srgbClr val="64748B"/>
                </a:solidFill>
              </a:rPr>
              <a:t>strict genes</a:t>
            </a:r>
          </a:p>
        </p:txBody>
      </p:sp>
      <p:sp>
        <p:nvSpPr>
          <p:cNvPr id="23" name="metric-relaxed genes"/>
          <p:cNvSpPr/>
          <p:nvPr/>
        </p:nvSpPr>
        <p:spPr>
          <a:xfrm>
            <a:off x="7863840" y="329184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900" dirty="0">
                <a:b/>
                <a:solidFill>
                  <a:srgbClr val="16A34A"/>
                </a:solidFill>
              </a:rPr>
              <a:t>105</a:t>
            </a:r>
          </a:p>
          <a:p>
            <a:pPr algn="l"/>
            <a:r>
              <a:rPr lang="en-US" sz="1300" dirty="0">
                <a:solidFill>
                  <a:srgbClr val="64748B"/>
                </a:solidFill>
              </a:rPr>
              <a:t>relaxed genes</a:t>
            </a:r>
          </a:p>
        </p:txBody>
      </p:sp>
      <p:sp>
        <p:nvSpPr>
          <p:cNvPr id="30" name="cover-thesis"/>
          <p:cNvSpPr/>
          <p:nvPr/>
        </p:nvSpPr>
        <p:spPr>
          <a:xfrm>
            <a:off x="4343400" y="4892040"/>
            <a:ext cx="6903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172033"/>
                </a:solidFill>
              </a:rPr>
              <a:t>A small conservative gene set emerges from broad adipose intervention data, while sensitivity analyses show where the signal is fragile.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FRAMING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What this analysis is asking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A meta-analysis of adipose tissue expression changes across public intervention datasets.</a:t>
            </a:r>
          </a:p>
        </p:txBody>
      </p:sp>
      <p:sp>
        <p:nvSpPr>
          <p:cNvPr id="40" name="rule-0"/>
          <p:cNvSpPr/>
          <p:nvPr/>
        </p:nvSpPr>
        <p:spPr>
          <a:xfrm>
            <a:off x="777240" y="2212848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50" name="point-0"/>
          <p:cNvSpPr/>
          <p:nvPr/>
        </p:nvSpPr>
        <p:spPr>
          <a:xfrm>
            <a:off x="960120" y="210312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Unit of analysis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Each GEO study is analyzed separately with limma, then combined gene by gene.</a:t>
            </a:r>
          </a:p>
        </p:txBody>
      </p:sp>
      <p:sp>
        <p:nvSpPr>
          <p:cNvPr id="41" name="rule-1"/>
          <p:cNvSpPr/>
          <p:nvPr/>
        </p:nvSpPr>
        <p:spPr>
          <a:xfrm>
            <a:off x="777240" y="3383280"/>
            <a:ext cx="82296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51" name="point-1"/>
          <p:cNvSpPr/>
          <p:nvPr/>
        </p:nvSpPr>
        <p:spPr>
          <a:xfrm>
            <a:off x="960120" y="3273552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Effect exported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Study-level limma logFC; variance estimated from logFC / t.</a:t>
            </a:r>
          </a:p>
        </p:txBody>
      </p:sp>
      <p:sp>
        <p:nvSpPr>
          <p:cNvPr id="42" name="rule-2"/>
          <p:cNvSpPr/>
          <p:nvPr/>
        </p:nvSpPr>
        <p:spPr>
          <a:xfrm>
            <a:off x="777240" y="4553711"/>
            <a:ext cx="82296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52" name="point-2"/>
          <p:cNvSpPr/>
          <p:nvPr/>
        </p:nvSpPr>
        <p:spPr>
          <a:xfrm>
            <a:off x="960120" y="4443983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Model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Random-effects meta-analysis, REML estimator, DL fallback only if needed.</a:t>
            </a:r>
          </a:p>
        </p:txBody>
      </p:sp>
      <p:sp>
        <p:nvSpPr>
          <p:cNvPr id="60" name="bottom-line"/>
          <p:cNvSpPr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DC2626"/>
                </a:solidFill>
              </a:rPr>
              <a:t>Best wording: exercise/lifestyle-associated adipose transcriptional response, not a pure endurance-training signature.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MODEL LOGIC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How REMA combines studies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For every gene, each study contributes an effect estimate and its uncertainty.</a:t>
            </a:r>
          </a:p>
        </p:txBody>
      </p:sp>
      <p:sp>
        <p:nvSpPr>
          <p:cNvPr id="65" name="model-rule-0"/>
          <p:cNvSpPr/>
          <p:nvPr/>
        </p:nvSpPr>
        <p:spPr>
          <a:xfrm>
            <a:off x="777240" y="1965959"/>
            <a:ext cx="82296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70" name="model-step-0"/>
          <p:cNvSpPr/>
          <p:nvPr/>
        </p:nvSpPr>
        <p:spPr>
          <a:xfrm>
            <a:off x="978408" y="1874519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172033"/>
                </a:solidFill>
              </a:rPr>
              <a:t>Study effect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yi = study-level limma logFC</a:t>
            </a:r>
          </a:p>
        </p:txBody>
      </p:sp>
      <p:sp>
        <p:nvSpPr>
          <p:cNvPr id="66" name="model-rule-1"/>
          <p:cNvSpPr/>
          <p:nvPr/>
        </p:nvSpPr>
        <p:spPr>
          <a:xfrm>
            <a:off x="6400800" y="1965959"/>
            <a:ext cx="82296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71" name="model-step-1"/>
          <p:cNvSpPr/>
          <p:nvPr/>
        </p:nvSpPr>
        <p:spPr>
          <a:xfrm>
            <a:off x="6601968" y="1874519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172033"/>
                </a:solidFill>
              </a:rPr>
              <a:t>Study variance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vi = estimated variance from limma logFC and t</a:t>
            </a:r>
          </a:p>
        </p:txBody>
      </p:sp>
      <p:sp>
        <p:nvSpPr>
          <p:cNvPr id="67" name="model-rule-2"/>
          <p:cNvSpPr/>
          <p:nvPr/>
        </p:nvSpPr>
        <p:spPr>
          <a:xfrm>
            <a:off x="777240" y="3474719"/>
            <a:ext cx="82296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72" name="model-step-2"/>
          <p:cNvSpPr/>
          <p:nvPr/>
        </p:nvSpPr>
        <p:spPr>
          <a:xfrm>
            <a:off x="978408" y="3383279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172033"/>
                </a:solidFill>
              </a:rPr>
              <a:t>Random-effects weight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wi* = 1 / (vi + tau2)</a:t>
            </a:r>
          </a:p>
        </p:txBody>
      </p:sp>
      <p:sp>
        <p:nvSpPr>
          <p:cNvPr id="68" name="model-rule-3"/>
          <p:cNvSpPr/>
          <p:nvPr/>
        </p:nvSpPr>
        <p:spPr>
          <a:xfrm>
            <a:off x="6400800" y="3474719"/>
            <a:ext cx="82296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73" name="model-step-3"/>
          <p:cNvSpPr/>
          <p:nvPr/>
        </p:nvSpPr>
        <p:spPr>
          <a:xfrm>
            <a:off x="6601968" y="3383279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dirty="0">
                <a:b/>
                <a:solidFill>
                  <a:srgbClr val="172033"/>
                </a:solidFill>
              </a:rPr>
              <a:t>Pooled effect</a:t>
            </a:r>
          </a:p>
          <a:p>
            <a:pPr algn="l"/>
            <a:r>
              <a:rPr lang="en-US" sz="1500" dirty="0">
                <a:solidFill>
                  <a:srgbClr val="64748B"/>
                </a:solidFill>
              </a:rPr>
              <a:t>mu-hat = weighted mean of yi using wi*</a:t>
            </a:r>
          </a:p>
        </p:txBody>
      </p:sp>
      <p:sp>
        <p:nvSpPr>
          <p:cNvPr id="80" name="model-note"/>
          <p:cNvSpPr/>
          <p:nvPr/>
        </p:nvSpPr>
        <p:spPr>
          <a:xfrm>
            <a:off x="1051560" y="516636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700" dirty="0">
                <a:b/>
                <a:solidFill>
                  <a:srgbClr val="172033"/>
                </a:solidFill>
              </a:rPr>
              <a:t>tau2 is between-study heterogeneity. We estimate tau2 with REML, then report the pooled logFC, confidence interval, heterogeneity, and prediction interval.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WORKFLOW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From GEO data to meta-analysis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The same pipeline turns study-level limma outputs into pooled gene-level evidence.</a:t>
            </a:r>
          </a:p>
        </p:txBody>
      </p:sp>
      <p:pic>
        <p:nvPicPr>
          <p:cNvPr id="70" name="pipeline-flow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104241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RESULTS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Filter sensitivity: what changes?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The strict 12 genes mainly come from the effect-size threshold, not the I2 filter.</a:t>
            </a:r>
          </a:p>
        </p:txBody>
      </p:sp>
      <p:sp>
        <p:nvSpPr>
          <p:cNvPr id="80" name="filter-0"/>
          <p:cNvSpPr/>
          <p:nvPr/>
        </p:nvSpPr>
        <p:spPr>
          <a:xfrm>
            <a:off x="685800" y="2057400"/>
            <a:ext cx="196596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800" dirty="0">
                <a:b/>
                <a:solidFill>
                  <a:srgbClr val="2563EB"/>
                </a:solidFill>
              </a:rPr>
              <a:t>29193</a:t>
            </a:r>
          </a:p>
          <a:p>
            <a:pPr algn="ctr"/>
            <a:r>
              <a:rPr lang="en-US" sz="1100" dirty="0">
                <a:b/>
                <a:solidFill>
                  <a:srgbClr val="172033"/>
                </a:solidFill>
              </a:rPr>
              <a:t>All meta-analyzed</a:t>
            </a:r>
          </a:p>
        </p:txBody>
      </p:sp>
      <p:sp>
        <p:nvSpPr>
          <p:cNvPr id="81" name="filter-1"/>
          <p:cNvSpPr/>
          <p:nvPr/>
        </p:nvSpPr>
        <p:spPr>
          <a:xfrm>
            <a:off x="2990088" y="2057400"/>
            <a:ext cx="1965960" cy="1600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800" dirty="0">
                <a:b/>
                <a:solidFill>
                  <a:srgbClr val="0F766E"/>
                </a:solidFill>
              </a:rPr>
              <a:t>163</a:t>
            </a:r>
          </a:p>
          <a:p>
            <a:pPr algn="ctr"/>
            <a:r>
              <a:rPr lang="en-US" sz="1100" dirty="0">
                <a:b/>
                <a:solidFill>
                  <a:srgbClr val="172033"/>
                </a:solidFill>
              </a:rPr>
              <a:t>FDR &lt; 0.1</a:t>
            </a:r>
          </a:p>
        </p:txBody>
      </p:sp>
      <p:sp>
        <p:nvSpPr>
          <p:cNvPr id="82" name="filter-2"/>
          <p:cNvSpPr/>
          <p:nvPr/>
        </p:nvSpPr>
        <p:spPr>
          <a:xfrm>
            <a:off x="5294376" y="2057400"/>
            <a:ext cx="196596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800" dirty="0">
                <a:b/>
                <a:solidFill>
                  <a:srgbClr val="16A34A"/>
                </a:solidFill>
              </a:rPr>
              <a:t>163</a:t>
            </a:r>
          </a:p>
          <a:p>
            <a:pPr algn="ctr"/>
            <a:r>
              <a:rPr lang="en-US" sz="1100" dirty="0">
                <a:b/>
                <a:solidFill>
                  <a:srgbClr val="172033"/>
                </a:solidFill>
              </a:rPr>
              <a:t>FDR + I2 &lt; 50</a:t>
            </a:r>
          </a:p>
        </p:txBody>
      </p:sp>
      <p:sp>
        <p:nvSpPr>
          <p:cNvPr id="83" name="filter-3"/>
          <p:cNvSpPr/>
          <p:nvPr/>
        </p:nvSpPr>
        <p:spPr>
          <a:xfrm>
            <a:off x="7598664" y="2057400"/>
            <a:ext cx="1965960" cy="160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800" dirty="0">
                <a:b/>
                <a:solidFill>
                  <a:srgbClr val="D97706"/>
                </a:solidFill>
              </a:rPr>
              <a:t>105</a:t>
            </a:r>
          </a:p>
          <a:p>
            <a:pPr algn="ctr"/>
            <a:r>
              <a:rPr lang="en-US" sz="1100" dirty="0">
                <a:b/>
                <a:solidFill>
                  <a:srgbClr val="172033"/>
                </a:solidFill>
              </a:rPr>
              <a:t>FDR + |beta| &gt; 0.1</a:t>
            </a:r>
          </a:p>
        </p:txBody>
      </p:sp>
      <p:sp>
        <p:nvSpPr>
          <p:cNvPr id="84" name="filter-4"/>
          <p:cNvSpPr/>
          <p:nvPr/>
        </p:nvSpPr>
        <p:spPr>
          <a:xfrm>
            <a:off x="9902952" y="2057400"/>
            <a:ext cx="1965960" cy="160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800" dirty="0">
                <a:b/>
                <a:solidFill>
                  <a:srgbClr val="DC2626"/>
                </a:solidFill>
              </a:rPr>
              <a:t>12</a:t>
            </a:r>
          </a:p>
          <a:p>
            <a:pPr algn="ctr"/>
            <a:r>
              <a:rPr lang="en-US" sz="1100" dirty="0">
                <a:b/>
                <a:solidFill>
                  <a:srgbClr val="172033"/>
                </a:solidFill>
              </a:rPr>
              <a:t>Strict: FDR + I2 + |beta| &gt; 0.25</a:t>
            </a:r>
          </a:p>
        </p:txBody>
      </p:sp>
      <p:sp>
        <p:nvSpPr>
          <p:cNvPr id="90" name="sensitivity-takeaway"/>
          <p:cNvSpPr/>
          <p:nvPr/>
        </p:nvSpPr>
        <p:spPr>
          <a:xfrm>
            <a:off x="1143000" y="457200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000" dirty="0">
                <a:b/>
                <a:solidFill>
                  <a:srgbClr val="172033"/>
                </a:solidFill>
              </a:rPr>
              <a:t>Relaxed no-I2 sensitivity gives 105 genes. The strict set is intentionally conservative: 5 upregulated, 7 downregulated.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CORE RESULT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The strict high-confidence 12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Genes passing FDR &lt; 0.1, I2 &lt; 50%, and absolute pooled beta &gt; 0.25.</a:t>
            </a:r>
          </a:p>
        </p:txBody>
      </p:sp>
      <p:sp>
        <p:nvSpPr>
          <p:cNvPr id="100" name="header-Gene"/>
          <p:cNvSpPr/>
          <p:nvPr/>
        </p:nvSpPr>
        <p:spPr>
          <a:xfrm>
            <a:off x="731520" y="1783080"/>
            <a:ext cx="128016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Gene</a:t>
            </a:r>
          </a:p>
        </p:txBody>
      </p:sp>
      <p:sp>
        <p:nvSpPr>
          <p:cNvPr id="101" name="header-Direction"/>
          <p:cNvSpPr/>
          <p:nvPr/>
        </p:nvSpPr>
        <p:spPr>
          <a:xfrm>
            <a:off x="2240280" y="1783080"/>
            <a:ext cx="114300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2" name="header-beta"/>
          <p:cNvSpPr/>
          <p:nvPr/>
        </p:nvSpPr>
        <p:spPr>
          <a:xfrm>
            <a:off x="3703320" y="1783080"/>
            <a:ext cx="91440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103" name="header-FDR"/>
          <p:cNvSpPr/>
          <p:nvPr/>
        </p:nvSpPr>
        <p:spPr>
          <a:xfrm>
            <a:off x="4892040" y="1783080"/>
            <a:ext cx="100584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FDR</a:t>
            </a:r>
          </a:p>
        </p:txBody>
      </p:sp>
      <p:sp>
        <p:nvSpPr>
          <p:cNvPr id="104" name="header-I2"/>
          <p:cNvSpPr/>
          <p:nvPr/>
        </p:nvSpPr>
        <p:spPr>
          <a:xfrm>
            <a:off x="6172200" y="1783080"/>
            <a:ext cx="77724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I2</a:t>
            </a:r>
          </a:p>
        </p:txBody>
      </p:sp>
      <p:sp>
        <p:nvSpPr>
          <p:cNvPr id="105" name="header-Studies"/>
          <p:cNvSpPr/>
          <p:nvPr/>
        </p:nvSpPr>
        <p:spPr>
          <a:xfrm>
            <a:off x="7315200" y="1783080"/>
            <a:ext cx="4023360" cy="29260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50" dirty="0">
                <a:b/>
                <a:solidFill>
                  <a:srgbClr val="FFFFFF"/>
                </a:solidFill>
              </a:rPr>
              <a:t>Studies</a:t>
            </a:r>
          </a:p>
        </p:txBody>
      </p:sp>
      <p:sp>
        <p:nvSpPr>
          <p:cNvPr id="120" name="gene-0-0"/>
          <p:cNvSpPr/>
          <p:nvPr/>
        </p:nvSpPr>
        <p:spPr>
          <a:xfrm>
            <a:off x="731520" y="2130552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BCYRN1</a:t>
            </a:r>
          </a:p>
        </p:txBody>
      </p:sp>
      <p:sp>
        <p:nvSpPr>
          <p:cNvPr id="121" name="gene-0-1"/>
          <p:cNvSpPr/>
          <p:nvPr/>
        </p:nvSpPr>
        <p:spPr>
          <a:xfrm>
            <a:off x="2240280" y="2130552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22" name="gene-0-2"/>
          <p:cNvSpPr/>
          <p:nvPr/>
        </p:nvSpPr>
        <p:spPr>
          <a:xfrm>
            <a:off x="3703320" y="2130552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-0.32</a:t>
            </a:r>
          </a:p>
        </p:txBody>
      </p:sp>
      <p:sp>
        <p:nvSpPr>
          <p:cNvPr id="123" name="gene-0-3"/>
          <p:cNvSpPr/>
          <p:nvPr/>
        </p:nvSpPr>
        <p:spPr>
          <a:xfrm>
            <a:off x="4892040" y="2130552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2.02e-05</a:t>
            </a:r>
          </a:p>
        </p:txBody>
      </p:sp>
      <p:sp>
        <p:nvSpPr>
          <p:cNvPr id="124" name="gene-0-4"/>
          <p:cNvSpPr/>
          <p:nvPr/>
        </p:nvSpPr>
        <p:spPr>
          <a:xfrm>
            <a:off x="6172200" y="2130552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7.02e-04</a:t>
            </a:r>
          </a:p>
        </p:txBody>
      </p:sp>
      <p:sp>
        <p:nvSpPr>
          <p:cNvPr id="125" name="gene-0-5"/>
          <p:cNvSpPr/>
          <p:nvPr/>
        </p:nvSpPr>
        <p:spPr>
          <a:xfrm>
            <a:off x="7315200" y="2130552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GSE205891;GSE43471;GSE58559</a:t>
            </a:r>
          </a:p>
        </p:txBody>
      </p:sp>
      <p:sp>
        <p:nvSpPr>
          <p:cNvPr id="130" name="gene-1-0"/>
          <p:cNvSpPr/>
          <p:nvPr/>
        </p:nvSpPr>
        <p:spPr>
          <a:xfrm>
            <a:off x="731520" y="2459736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TMEM170B</a:t>
            </a:r>
          </a:p>
        </p:txBody>
      </p:sp>
      <p:sp>
        <p:nvSpPr>
          <p:cNvPr id="131" name="gene-1-1"/>
          <p:cNvSpPr/>
          <p:nvPr/>
        </p:nvSpPr>
        <p:spPr>
          <a:xfrm>
            <a:off x="2240280" y="2459736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32" name="gene-1-2"/>
          <p:cNvSpPr/>
          <p:nvPr/>
        </p:nvSpPr>
        <p:spPr>
          <a:xfrm>
            <a:off x="3703320" y="2459736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-0.27</a:t>
            </a:r>
          </a:p>
        </p:txBody>
      </p:sp>
      <p:sp>
        <p:nvSpPr>
          <p:cNvPr id="133" name="gene-1-3"/>
          <p:cNvSpPr/>
          <p:nvPr/>
        </p:nvSpPr>
        <p:spPr>
          <a:xfrm>
            <a:off x="4892040" y="2459736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6.70e-05</a:t>
            </a:r>
          </a:p>
        </p:txBody>
      </p:sp>
      <p:sp>
        <p:nvSpPr>
          <p:cNvPr id="134" name="gene-1-4"/>
          <p:cNvSpPr/>
          <p:nvPr/>
        </p:nvSpPr>
        <p:spPr>
          <a:xfrm>
            <a:off x="6172200" y="2459736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135" name="gene-1-5"/>
          <p:cNvSpPr/>
          <p:nvPr/>
        </p:nvSpPr>
        <p:spPr>
          <a:xfrm>
            <a:off x="7315200" y="2459736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GSE116801;GSE205891;GSE208032;GSE58559</a:t>
            </a:r>
          </a:p>
        </p:txBody>
      </p:sp>
      <p:sp>
        <p:nvSpPr>
          <p:cNvPr id="140" name="gene-2-0"/>
          <p:cNvSpPr/>
          <p:nvPr/>
        </p:nvSpPr>
        <p:spPr>
          <a:xfrm>
            <a:off x="731520" y="2788920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LINC00968</a:t>
            </a:r>
          </a:p>
        </p:txBody>
      </p:sp>
      <p:sp>
        <p:nvSpPr>
          <p:cNvPr id="141" name="gene-2-1"/>
          <p:cNvSpPr/>
          <p:nvPr/>
        </p:nvSpPr>
        <p:spPr>
          <a:xfrm>
            <a:off x="2240280" y="2788920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42" name="gene-2-2"/>
          <p:cNvSpPr/>
          <p:nvPr/>
        </p:nvSpPr>
        <p:spPr>
          <a:xfrm>
            <a:off x="3703320" y="2788920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-1.4</a:t>
            </a:r>
          </a:p>
        </p:txBody>
      </p:sp>
      <p:sp>
        <p:nvSpPr>
          <p:cNvPr id="143" name="gene-2-3"/>
          <p:cNvSpPr/>
          <p:nvPr/>
        </p:nvSpPr>
        <p:spPr>
          <a:xfrm>
            <a:off x="4892040" y="2788920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0.0016</a:t>
            </a:r>
          </a:p>
        </p:txBody>
      </p:sp>
      <p:sp>
        <p:nvSpPr>
          <p:cNvPr id="144" name="gene-2-4"/>
          <p:cNvSpPr/>
          <p:nvPr/>
        </p:nvSpPr>
        <p:spPr>
          <a:xfrm>
            <a:off x="6172200" y="2788920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145" name="gene-2-5"/>
          <p:cNvSpPr/>
          <p:nvPr/>
        </p:nvSpPr>
        <p:spPr>
          <a:xfrm>
            <a:off x="7315200" y="2788920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</a:t>
            </a:r>
          </a:p>
        </p:txBody>
      </p:sp>
      <p:sp>
        <p:nvSpPr>
          <p:cNvPr id="150" name="gene-3-0"/>
          <p:cNvSpPr/>
          <p:nvPr/>
        </p:nvSpPr>
        <p:spPr>
          <a:xfrm>
            <a:off x="731520" y="3118104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TNMD</a:t>
            </a:r>
          </a:p>
        </p:txBody>
      </p:sp>
      <p:sp>
        <p:nvSpPr>
          <p:cNvPr id="151" name="gene-3-1"/>
          <p:cNvSpPr/>
          <p:nvPr/>
        </p:nvSpPr>
        <p:spPr>
          <a:xfrm>
            <a:off x="2240280" y="3118104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52" name="gene-3-2"/>
          <p:cNvSpPr/>
          <p:nvPr/>
        </p:nvSpPr>
        <p:spPr>
          <a:xfrm>
            <a:off x="3703320" y="3118104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-0.51</a:t>
            </a:r>
          </a:p>
        </p:txBody>
      </p:sp>
      <p:sp>
        <p:nvSpPr>
          <p:cNvPr id="153" name="gene-3-3"/>
          <p:cNvSpPr/>
          <p:nvPr/>
        </p:nvSpPr>
        <p:spPr>
          <a:xfrm>
            <a:off x="4892040" y="3118104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0.0058</a:t>
            </a:r>
          </a:p>
        </p:txBody>
      </p:sp>
      <p:sp>
        <p:nvSpPr>
          <p:cNvPr id="154" name="gene-3-4"/>
          <p:cNvSpPr/>
          <p:nvPr/>
        </p:nvSpPr>
        <p:spPr>
          <a:xfrm>
            <a:off x="6172200" y="3118104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39</a:t>
            </a:r>
          </a:p>
        </p:txBody>
      </p:sp>
      <p:sp>
        <p:nvSpPr>
          <p:cNvPr id="155" name="gene-3-5"/>
          <p:cNvSpPr/>
          <p:nvPr/>
        </p:nvSpPr>
        <p:spPr>
          <a:xfrm>
            <a:off x="7315200" y="3118104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GSE116801;GSE205891;GSE208032;GSE43471;GSE58559</a:t>
            </a:r>
          </a:p>
        </p:txBody>
      </p:sp>
      <p:sp>
        <p:nvSpPr>
          <p:cNvPr id="160" name="gene-4-0"/>
          <p:cNvSpPr/>
          <p:nvPr/>
        </p:nvSpPr>
        <p:spPr>
          <a:xfrm>
            <a:off x="731520" y="3447288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HCAR2</a:t>
            </a:r>
          </a:p>
        </p:txBody>
      </p:sp>
      <p:sp>
        <p:nvSpPr>
          <p:cNvPr id="161" name="gene-4-1"/>
          <p:cNvSpPr/>
          <p:nvPr/>
        </p:nvSpPr>
        <p:spPr>
          <a:xfrm>
            <a:off x="2240280" y="3447288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62" name="gene-4-2"/>
          <p:cNvSpPr/>
          <p:nvPr/>
        </p:nvSpPr>
        <p:spPr>
          <a:xfrm>
            <a:off x="3703320" y="3447288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-0.42</a:t>
            </a:r>
          </a:p>
        </p:txBody>
      </p:sp>
      <p:sp>
        <p:nvSpPr>
          <p:cNvPr id="163" name="gene-4-3"/>
          <p:cNvSpPr/>
          <p:nvPr/>
        </p:nvSpPr>
        <p:spPr>
          <a:xfrm>
            <a:off x="4892040" y="3447288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0.018</a:t>
            </a:r>
          </a:p>
        </p:txBody>
      </p:sp>
      <p:sp>
        <p:nvSpPr>
          <p:cNvPr id="164" name="gene-4-4"/>
          <p:cNvSpPr/>
          <p:nvPr/>
        </p:nvSpPr>
        <p:spPr>
          <a:xfrm>
            <a:off x="6172200" y="3447288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165" name="gene-4-5"/>
          <p:cNvSpPr/>
          <p:nvPr/>
        </p:nvSpPr>
        <p:spPr>
          <a:xfrm>
            <a:off x="7315200" y="3447288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GSE205891;GSE208032</a:t>
            </a:r>
          </a:p>
        </p:txBody>
      </p:sp>
      <p:sp>
        <p:nvSpPr>
          <p:cNvPr id="170" name="gene-5-0"/>
          <p:cNvSpPr/>
          <p:nvPr/>
        </p:nvSpPr>
        <p:spPr>
          <a:xfrm>
            <a:off x="731520" y="3776472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APOE</a:t>
            </a:r>
          </a:p>
        </p:txBody>
      </p:sp>
      <p:sp>
        <p:nvSpPr>
          <p:cNvPr id="171" name="gene-5-1"/>
          <p:cNvSpPr/>
          <p:nvPr/>
        </p:nvSpPr>
        <p:spPr>
          <a:xfrm>
            <a:off x="2240280" y="3776472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6A34A"/>
                </a:solidFill>
              </a:rPr>
              <a:t>up</a:t>
            </a:r>
          </a:p>
        </p:txBody>
      </p:sp>
      <p:sp>
        <p:nvSpPr>
          <p:cNvPr id="172" name="gene-5-2"/>
          <p:cNvSpPr/>
          <p:nvPr/>
        </p:nvSpPr>
        <p:spPr>
          <a:xfrm>
            <a:off x="3703320" y="3776472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0.49</a:t>
            </a:r>
          </a:p>
        </p:txBody>
      </p:sp>
      <p:sp>
        <p:nvSpPr>
          <p:cNvPr id="173" name="gene-5-3"/>
          <p:cNvSpPr/>
          <p:nvPr/>
        </p:nvSpPr>
        <p:spPr>
          <a:xfrm>
            <a:off x="4892040" y="3776472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0.023</a:t>
            </a:r>
          </a:p>
        </p:txBody>
      </p:sp>
      <p:sp>
        <p:nvSpPr>
          <p:cNvPr id="174" name="gene-5-4"/>
          <p:cNvSpPr/>
          <p:nvPr/>
        </p:nvSpPr>
        <p:spPr>
          <a:xfrm>
            <a:off x="6172200" y="3776472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47</a:t>
            </a:r>
          </a:p>
        </p:txBody>
      </p:sp>
      <p:sp>
        <p:nvSpPr>
          <p:cNvPr id="175" name="gene-5-5"/>
          <p:cNvSpPr/>
          <p:nvPr/>
        </p:nvSpPr>
        <p:spPr>
          <a:xfrm>
            <a:off x="7315200" y="3776472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GSE116801;GSE205891;GSE208032;GSE43471;GSE58559</a:t>
            </a:r>
          </a:p>
        </p:txBody>
      </p:sp>
      <p:sp>
        <p:nvSpPr>
          <p:cNvPr id="180" name="gene-6-0"/>
          <p:cNvSpPr/>
          <p:nvPr/>
        </p:nvSpPr>
        <p:spPr>
          <a:xfrm>
            <a:off x="731520" y="4105656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CYB561A3</a:t>
            </a:r>
          </a:p>
        </p:txBody>
      </p:sp>
      <p:sp>
        <p:nvSpPr>
          <p:cNvPr id="181" name="gene-6-1"/>
          <p:cNvSpPr/>
          <p:nvPr/>
        </p:nvSpPr>
        <p:spPr>
          <a:xfrm>
            <a:off x="2240280" y="4105656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182" name="gene-6-2"/>
          <p:cNvSpPr/>
          <p:nvPr/>
        </p:nvSpPr>
        <p:spPr>
          <a:xfrm>
            <a:off x="3703320" y="4105656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-0.27</a:t>
            </a:r>
          </a:p>
        </p:txBody>
      </p:sp>
      <p:sp>
        <p:nvSpPr>
          <p:cNvPr id="183" name="gene-6-3"/>
          <p:cNvSpPr/>
          <p:nvPr/>
        </p:nvSpPr>
        <p:spPr>
          <a:xfrm>
            <a:off x="4892040" y="4105656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0.029</a:t>
            </a:r>
          </a:p>
        </p:txBody>
      </p:sp>
      <p:sp>
        <p:nvSpPr>
          <p:cNvPr id="184" name="gene-6-4"/>
          <p:cNvSpPr/>
          <p:nvPr/>
        </p:nvSpPr>
        <p:spPr>
          <a:xfrm>
            <a:off x="6172200" y="4105656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185" name="gene-6-5"/>
          <p:cNvSpPr/>
          <p:nvPr/>
        </p:nvSpPr>
        <p:spPr>
          <a:xfrm>
            <a:off x="7315200" y="4105656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</a:t>
            </a:r>
          </a:p>
        </p:txBody>
      </p:sp>
      <p:sp>
        <p:nvSpPr>
          <p:cNvPr id="190" name="gene-7-0"/>
          <p:cNvSpPr/>
          <p:nvPr/>
        </p:nvSpPr>
        <p:spPr>
          <a:xfrm>
            <a:off x="731520" y="4434840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SLF2</a:t>
            </a:r>
          </a:p>
        </p:txBody>
      </p:sp>
      <p:sp>
        <p:nvSpPr>
          <p:cNvPr id="191" name="gene-7-1"/>
          <p:cNvSpPr/>
          <p:nvPr/>
        </p:nvSpPr>
        <p:spPr>
          <a:xfrm>
            <a:off x="2240280" y="4434840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6A34A"/>
                </a:solidFill>
              </a:rPr>
              <a:t>up</a:t>
            </a:r>
          </a:p>
        </p:txBody>
      </p:sp>
      <p:sp>
        <p:nvSpPr>
          <p:cNvPr id="192" name="gene-7-2"/>
          <p:cNvSpPr/>
          <p:nvPr/>
        </p:nvSpPr>
        <p:spPr>
          <a:xfrm>
            <a:off x="3703320" y="4434840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0.29</a:t>
            </a:r>
          </a:p>
        </p:txBody>
      </p:sp>
      <p:sp>
        <p:nvSpPr>
          <p:cNvPr id="193" name="gene-7-3"/>
          <p:cNvSpPr/>
          <p:nvPr/>
        </p:nvSpPr>
        <p:spPr>
          <a:xfrm>
            <a:off x="4892040" y="4434840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0.032</a:t>
            </a:r>
          </a:p>
        </p:txBody>
      </p:sp>
      <p:sp>
        <p:nvSpPr>
          <p:cNvPr id="194" name="gene-7-4"/>
          <p:cNvSpPr/>
          <p:nvPr/>
        </p:nvSpPr>
        <p:spPr>
          <a:xfrm>
            <a:off x="6172200" y="4434840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195" name="gene-7-5"/>
          <p:cNvSpPr/>
          <p:nvPr/>
        </p:nvSpPr>
        <p:spPr>
          <a:xfrm>
            <a:off x="7315200" y="4434840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GSE205891;GSE208032</a:t>
            </a:r>
          </a:p>
        </p:txBody>
      </p:sp>
      <p:sp>
        <p:nvSpPr>
          <p:cNvPr id="200" name="gene-8-0"/>
          <p:cNvSpPr/>
          <p:nvPr/>
        </p:nvSpPr>
        <p:spPr>
          <a:xfrm>
            <a:off x="731520" y="4764024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UCHL1</a:t>
            </a:r>
          </a:p>
        </p:txBody>
      </p:sp>
      <p:sp>
        <p:nvSpPr>
          <p:cNvPr id="201" name="gene-8-1"/>
          <p:cNvSpPr/>
          <p:nvPr/>
        </p:nvSpPr>
        <p:spPr>
          <a:xfrm>
            <a:off x="2240280" y="4764024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DC2626"/>
                </a:solidFill>
              </a:rPr>
              <a:t>down</a:t>
            </a:r>
          </a:p>
        </p:txBody>
      </p:sp>
      <p:sp>
        <p:nvSpPr>
          <p:cNvPr id="202" name="gene-8-2"/>
          <p:cNvSpPr/>
          <p:nvPr/>
        </p:nvSpPr>
        <p:spPr>
          <a:xfrm>
            <a:off x="3703320" y="4764024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-0.35</a:t>
            </a:r>
          </a:p>
        </p:txBody>
      </p:sp>
      <p:sp>
        <p:nvSpPr>
          <p:cNvPr id="203" name="gene-8-3"/>
          <p:cNvSpPr/>
          <p:nvPr/>
        </p:nvSpPr>
        <p:spPr>
          <a:xfrm>
            <a:off x="4892040" y="4764024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0.033</a:t>
            </a:r>
          </a:p>
        </p:txBody>
      </p:sp>
      <p:sp>
        <p:nvSpPr>
          <p:cNvPr id="204" name="gene-8-4"/>
          <p:cNvSpPr/>
          <p:nvPr/>
        </p:nvSpPr>
        <p:spPr>
          <a:xfrm>
            <a:off x="6172200" y="4764024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46</a:t>
            </a:r>
          </a:p>
        </p:txBody>
      </p:sp>
      <p:sp>
        <p:nvSpPr>
          <p:cNvPr id="205" name="gene-8-5"/>
          <p:cNvSpPr/>
          <p:nvPr/>
        </p:nvSpPr>
        <p:spPr>
          <a:xfrm>
            <a:off x="7315200" y="4764024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GSE116801;GSE205891;GSE208032;GSE43471;GSE58559</a:t>
            </a:r>
          </a:p>
        </p:txBody>
      </p:sp>
      <p:sp>
        <p:nvSpPr>
          <p:cNvPr id="210" name="gene-9-0"/>
          <p:cNvSpPr/>
          <p:nvPr/>
        </p:nvSpPr>
        <p:spPr>
          <a:xfrm>
            <a:off x="731520" y="5093208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MGME1</a:t>
            </a:r>
          </a:p>
        </p:txBody>
      </p:sp>
      <p:sp>
        <p:nvSpPr>
          <p:cNvPr id="211" name="gene-9-1"/>
          <p:cNvSpPr/>
          <p:nvPr/>
        </p:nvSpPr>
        <p:spPr>
          <a:xfrm>
            <a:off x="2240280" y="5093208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6A34A"/>
                </a:solidFill>
              </a:rPr>
              <a:t>up</a:t>
            </a:r>
          </a:p>
        </p:txBody>
      </p:sp>
      <p:sp>
        <p:nvSpPr>
          <p:cNvPr id="212" name="gene-9-2"/>
          <p:cNvSpPr/>
          <p:nvPr/>
        </p:nvSpPr>
        <p:spPr>
          <a:xfrm>
            <a:off x="3703320" y="5093208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0.26</a:t>
            </a:r>
          </a:p>
        </p:txBody>
      </p:sp>
      <p:sp>
        <p:nvSpPr>
          <p:cNvPr id="213" name="gene-9-3"/>
          <p:cNvSpPr/>
          <p:nvPr/>
        </p:nvSpPr>
        <p:spPr>
          <a:xfrm>
            <a:off x="4892040" y="5093208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0.059</a:t>
            </a:r>
          </a:p>
        </p:txBody>
      </p:sp>
      <p:sp>
        <p:nvSpPr>
          <p:cNvPr id="214" name="gene-9-4"/>
          <p:cNvSpPr/>
          <p:nvPr/>
        </p:nvSpPr>
        <p:spPr>
          <a:xfrm>
            <a:off x="6172200" y="5093208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0.02</a:t>
            </a:r>
          </a:p>
        </p:txBody>
      </p:sp>
      <p:sp>
        <p:nvSpPr>
          <p:cNvPr id="215" name="gene-9-5"/>
          <p:cNvSpPr/>
          <p:nvPr/>
        </p:nvSpPr>
        <p:spPr>
          <a:xfrm>
            <a:off x="7315200" y="5093208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</a:t>
            </a:r>
          </a:p>
        </p:txBody>
      </p:sp>
      <p:sp>
        <p:nvSpPr>
          <p:cNvPr id="220" name="gene-10-0"/>
          <p:cNvSpPr/>
          <p:nvPr/>
        </p:nvSpPr>
        <p:spPr>
          <a:xfrm>
            <a:off x="731520" y="5422392"/>
            <a:ext cx="12801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TMEM252</a:t>
            </a:r>
          </a:p>
        </p:txBody>
      </p:sp>
      <p:sp>
        <p:nvSpPr>
          <p:cNvPr id="221" name="gene-10-1"/>
          <p:cNvSpPr/>
          <p:nvPr/>
        </p:nvSpPr>
        <p:spPr>
          <a:xfrm>
            <a:off x="2240280" y="5422392"/>
            <a:ext cx="11430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6A34A"/>
                </a:solidFill>
              </a:rPr>
              <a:t>up</a:t>
            </a:r>
          </a:p>
        </p:txBody>
      </p:sp>
      <p:sp>
        <p:nvSpPr>
          <p:cNvPr id="222" name="gene-10-2"/>
          <p:cNvSpPr/>
          <p:nvPr/>
        </p:nvSpPr>
        <p:spPr>
          <a:xfrm>
            <a:off x="3703320" y="5422392"/>
            <a:ext cx="9144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0.29</a:t>
            </a:r>
          </a:p>
        </p:txBody>
      </p:sp>
      <p:sp>
        <p:nvSpPr>
          <p:cNvPr id="223" name="gene-10-3"/>
          <p:cNvSpPr/>
          <p:nvPr/>
        </p:nvSpPr>
        <p:spPr>
          <a:xfrm>
            <a:off x="4892040" y="5422392"/>
            <a:ext cx="10058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0.08</a:t>
            </a:r>
          </a:p>
        </p:txBody>
      </p:sp>
      <p:sp>
        <p:nvSpPr>
          <p:cNvPr id="224" name="gene-10-4"/>
          <p:cNvSpPr/>
          <p:nvPr/>
        </p:nvSpPr>
        <p:spPr>
          <a:xfrm>
            <a:off x="6172200" y="5422392"/>
            <a:ext cx="77724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0.00e+00</a:t>
            </a:r>
          </a:p>
        </p:txBody>
      </p:sp>
      <p:sp>
        <p:nvSpPr>
          <p:cNvPr id="225" name="gene-10-5"/>
          <p:cNvSpPr/>
          <p:nvPr/>
        </p:nvSpPr>
        <p:spPr>
          <a:xfrm>
            <a:off x="7315200" y="5422392"/>
            <a:ext cx="4023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</a:t>
            </a:r>
          </a:p>
        </p:txBody>
      </p:sp>
      <p:sp>
        <p:nvSpPr>
          <p:cNvPr id="230" name="gene-11-0"/>
          <p:cNvSpPr/>
          <p:nvPr/>
        </p:nvSpPr>
        <p:spPr>
          <a:xfrm>
            <a:off x="731520" y="5751576"/>
            <a:ext cx="12801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72033"/>
                </a:solidFill>
              </a:rPr>
              <a:t>FNDC1</a:t>
            </a:r>
          </a:p>
        </p:txBody>
      </p:sp>
      <p:sp>
        <p:nvSpPr>
          <p:cNvPr id="231" name="gene-11-1"/>
          <p:cNvSpPr/>
          <p:nvPr/>
        </p:nvSpPr>
        <p:spPr>
          <a:xfrm>
            <a:off x="2240280" y="5751576"/>
            <a:ext cx="11430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b/>
                <a:solidFill>
                  <a:srgbClr val="16A34A"/>
                </a:solidFill>
              </a:rPr>
              <a:t>up</a:t>
            </a:r>
          </a:p>
        </p:txBody>
      </p:sp>
      <p:sp>
        <p:nvSpPr>
          <p:cNvPr id="232" name="gene-11-2"/>
          <p:cNvSpPr/>
          <p:nvPr/>
        </p:nvSpPr>
        <p:spPr>
          <a:xfrm>
            <a:off x="3703320" y="5751576"/>
            <a:ext cx="91440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0.28</a:t>
            </a:r>
          </a:p>
        </p:txBody>
      </p:sp>
      <p:sp>
        <p:nvSpPr>
          <p:cNvPr id="233" name="gene-11-3"/>
          <p:cNvSpPr/>
          <p:nvPr/>
        </p:nvSpPr>
        <p:spPr>
          <a:xfrm>
            <a:off x="4892040" y="5751576"/>
            <a:ext cx="10058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0.085</a:t>
            </a:r>
          </a:p>
        </p:txBody>
      </p:sp>
      <p:sp>
        <p:nvSpPr>
          <p:cNvPr id="234" name="gene-11-4"/>
          <p:cNvSpPr/>
          <p:nvPr/>
        </p:nvSpPr>
        <p:spPr>
          <a:xfrm>
            <a:off x="6172200" y="5751576"/>
            <a:ext cx="77724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2.1</a:t>
            </a:r>
          </a:p>
        </p:txBody>
      </p:sp>
      <p:sp>
        <p:nvSpPr>
          <p:cNvPr id="235" name="gene-11-5"/>
          <p:cNvSpPr/>
          <p:nvPr/>
        </p:nvSpPr>
        <p:spPr>
          <a:xfrm>
            <a:off x="7315200" y="5751576"/>
            <a:ext cx="4023360" cy="2651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919" dirty="0">
                <a:solidFill>
                  <a:srgbClr val="172033"/>
                </a:solidFill>
              </a:rPr>
              <a:t>GSE116801;GSE205891;GSE208032;GSE43471;GSE58559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Forest plot example: APOE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Study-level logFC estimates point in the same positive direction across all five study contexts.</a:t>
            </a:r>
          </a:p>
        </p:txBody>
      </p:sp>
      <p:pic>
        <p:nvPicPr>
          <p:cNvPr id="250" name="apoe-forest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645920"/>
            <a:ext cx="6995160" cy="4480560"/>
          </a:xfrm>
          <a:prstGeom prst="rect">
            <a:avLst/>
          </a:prstGeom>
        </p:spPr>
      </p:pic>
      <p:sp>
        <p:nvSpPr>
          <p:cNvPr id="251" name="apoe-note"/>
          <p:cNvSpPr/>
          <p:nvPr/>
        </p:nvSpPr>
        <p:spPr>
          <a:xfrm>
            <a:off x="7909560" y="1874519"/>
            <a:ext cx="324612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What to read</a:t>
            </a:r>
          </a:p>
          <a:p>
            <a:pPr algn="l"/>
            <a:r>
              <a:rPr lang="en-US" sz="1350" dirty="0">
                <a:solidFill>
                  <a:srgbClr val="64748B"/>
                </a:solidFill>
              </a:rPr>
              <a:t>Each point is a study-level limma effect.</a:t>
            </a:r>
          </a:p>
          <a:p>
            <a:pPr algn="l"/>
            <a:r>
              <a:rPr lang="en-US" sz="1350" dirty="0">
                <a:solidFill>
                  <a:srgbClr val="64748B"/>
                </a:solidFill>
              </a:rPr>
              <a:t>The pooled diamond is the random-effects estimate.</a:t>
            </a:r>
          </a:p>
          <a:p>
            <a:pPr algn="l"/>
            <a:r>
              <a:rPr lang="en-US" sz="1350" dirty="0">
                <a:solidFill>
                  <a:srgbClr val="64748B"/>
                </a:solidFill>
              </a:rPr>
              <a:t>Prediction intervals are now exported in the meta-analysis CSV.</a:t>
            </a:r>
          </a:p>
          <a:p>
            <a:pPr algn="l"/>
            <a:r>
              <a:rPr lang="en-US" sz="1350" dirty="0">
                <a:b/>
                <a:solidFill>
                  <a:srgbClr val="0F766E"/>
                </a:solidFill>
              </a:rPr>
              <a:t>APOE links this signal to lipid handling in adipose tissue.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ROBUSTNESS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Sensitivity: leave one study out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A robustness check repeats the meta-analysis after dropping each GEO dataset.</a:t>
            </a:r>
          </a:p>
        </p:txBody>
      </p:sp>
      <p:pic>
        <p:nvPicPr>
          <p:cNvPr id="270" name="loo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645920"/>
            <a:ext cx="6858000" cy="4434840"/>
          </a:xfrm>
          <a:prstGeom prst="rect">
            <a:avLst/>
          </a:prstGeom>
        </p:spPr>
      </p:pic>
      <p:sp>
        <p:nvSpPr>
          <p:cNvPr id="271" name="loo-note"/>
          <p:cNvSpPr/>
          <p:nvPr/>
        </p:nvSpPr>
        <p:spPr>
          <a:xfrm>
            <a:off x="7818120" y="1783080"/>
            <a:ext cx="3383280" cy="2788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Key read</a:t>
            </a:r>
          </a:p>
          <a:p>
            <a:pPr algn="l"/>
            <a:r>
              <a:rPr lang="en-US" sz="1400" dirty="0">
                <a:b/>
                <a:solidFill>
                  <a:srgbClr val="DC2626"/>
                </a:solidFill>
              </a:rPr>
              <a:t>No gene survived all six runs.</a:t>
            </a:r>
          </a:p>
          <a:p>
            <a:pPr algn="l"/>
            <a:r>
              <a:rPr lang="en-US" sz="1400" dirty="0">
                <a:solidFill>
                  <a:srgbClr val="64748B"/>
                </a:solidFill>
              </a:rPr>
              <a:t>TMEM170B was strongest by survival count.</a:t>
            </a:r>
          </a:p>
          <a:p>
            <a:pPr algn="l"/>
            <a:r>
              <a:rPr lang="en-US" sz="1400" dirty="0">
                <a:solidFill>
                  <a:srgbClr val="64748B"/>
                </a:solidFill>
              </a:rPr>
              <a:t>GSE58559 strongly influences the broader FDR-only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BIOLOGY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Biological interpretation is suggestive, not definitive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The strict gene list is small, so pathway enrichment has limited power.</a:t>
            </a:r>
          </a:p>
        </p:txBody>
      </p:sp>
      <p:pic>
        <p:nvPicPr>
          <p:cNvPr id="290" name="network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6309360" cy="4480560"/>
          </a:xfrm>
          <a:prstGeom prst="rect">
            <a:avLst/>
          </a:prstGeom>
        </p:spPr>
      </p:pic>
      <p:sp>
        <p:nvSpPr>
          <p:cNvPr id="291" name="bio-note"/>
          <p:cNvSpPr/>
          <p:nvPr/>
        </p:nvSpPr>
        <p:spPr>
          <a:xfrm>
            <a:off x="7178040" y="1874519"/>
            <a:ext cx="3794760" cy="2468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gProfiler ORA</a:t>
            </a:r>
          </a:p>
          <a:p>
            <a:pPr algn="l"/>
            <a:r>
              <a:rPr lang="en-US" sz="1350" dirty="0">
                <a:solidFill>
                  <a:srgbClr val="64748B"/>
                </a:solidFill>
              </a:rPr>
              <a:t>metal chelating activity (GO:MF); p=0.05; genes=APOE</a:t>
            </a:r>
          </a:p>
          <a:p>
            <a:pPr algn="l"/>
            <a:r>
              <a:rPr lang="en-US" sz="1400" dirty="0">
                <a:b/>
                <a:solidFill>
                  <a:srgbClr val="D97706"/>
                </a:solidFill>
              </a:rPr>
              <a:t>Current enrichment is APOE-driven, so it is better treated as a clue than a pathway conclusion.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RELAXED ENRICHMENT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Relaxed ORA reveals broader pathway signal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Using FDR &lt; 0.1, no I2 filter, and absolute effect &gt; 0.1 gives a 105-gene list for pathway exploration.</a:t>
            </a:r>
          </a:p>
        </p:txBody>
      </p:sp>
      <p:sp>
        <p:nvSpPr>
          <p:cNvPr id="350" name="relaxed-metric-0"/>
          <p:cNvSpPr/>
          <p:nvPr/>
        </p:nvSpPr>
        <p:spPr>
          <a:xfrm>
            <a:off x="777240" y="17830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700" dirty="0">
                <a:b/>
                <a:solidFill>
                  <a:srgbClr val="2563EB"/>
                </a:solidFill>
              </a:rPr>
              <a:t>105</a:t>
            </a:r>
          </a:p>
          <a:p>
            <a:pPr algn="ctr"/>
            <a:r>
              <a:rPr lang="en-US" sz="1150" dirty="0">
                <a:b/>
                <a:solidFill>
                  <a:srgbClr val="172033"/>
                </a:solidFill>
              </a:rPr>
              <a:t>genes</a:t>
            </a:r>
          </a:p>
        </p:txBody>
      </p:sp>
      <p:sp>
        <p:nvSpPr>
          <p:cNvPr id="351" name="relaxed-metric-1"/>
          <p:cNvSpPr/>
          <p:nvPr/>
        </p:nvSpPr>
        <p:spPr>
          <a:xfrm>
            <a:off x="3566160" y="17830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700" dirty="0">
                <a:b/>
                <a:solidFill>
                  <a:srgbClr val="16A34A"/>
                </a:solidFill>
              </a:rPr>
              <a:t>45</a:t>
            </a:r>
          </a:p>
          <a:p>
            <a:pPr algn="ctr"/>
            <a:r>
              <a:rPr lang="en-US" sz="1150" dirty="0">
                <a:b/>
                <a:solidFill>
                  <a:srgbClr val="172033"/>
                </a:solidFill>
              </a:rPr>
              <a:t>upregulated</a:t>
            </a:r>
          </a:p>
        </p:txBody>
      </p:sp>
      <p:sp>
        <p:nvSpPr>
          <p:cNvPr id="352" name="relaxed-metric-2"/>
          <p:cNvSpPr/>
          <p:nvPr/>
        </p:nvSpPr>
        <p:spPr>
          <a:xfrm>
            <a:off x="6355079" y="17830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700" dirty="0">
                <a:b/>
                <a:solidFill>
                  <a:srgbClr val="DC2626"/>
                </a:solidFill>
              </a:rPr>
              <a:t>60</a:t>
            </a:r>
          </a:p>
          <a:p>
            <a:pPr algn="ctr"/>
            <a:r>
              <a:rPr lang="en-US" sz="1150" dirty="0">
                <a:b/>
                <a:solidFill>
                  <a:srgbClr val="172033"/>
                </a:solidFill>
              </a:rPr>
              <a:t>downregulated</a:t>
            </a:r>
          </a:p>
        </p:txBody>
      </p:sp>
      <p:sp>
        <p:nvSpPr>
          <p:cNvPr id="353" name="relaxed-metric-3"/>
          <p:cNvSpPr/>
          <p:nvPr/>
        </p:nvSpPr>
        <p:spPr>
          <a:xfrm>
            <a:off x="9143999" y="178308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700" dirty="0">
                <a:b/>
                <a:solidFill>
                  <a:srgbClr val="D97706"/>
                </a:solidFill>
              </a:rPr>
              <a:t>66</a:t>
            </a:r>
          </a:p>
          <a:p>
            <a:pPr algn="ctr"/>
            <a:r>
              <a:rPr lang="en-US" sz="1150" dirty="0">
                <a:b/>
                <a:solidFill>
                  <a:srgbClr val="172033"/>
                </a:solidFill>
              </a:rPr>
              <a:t>ORA terms</a:t>
            </a:r>
          </a:p>
        </p:txBody>
      </p:sp>
      <p:sp>
        <p:nvSpPr>
          <p:cNvPr id="360" name="relaxed-breakdown"/>
          <p:cNvSpPr/>
          <p:nvPr/>
        </p:nvSpPr>
        <p:spPr>
          <a:xfrm>
            <a:off x="868680" y="30632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b/>
                <a:solidFill>
                  <a:srgbClr val="172033"/>
                </a:solidFill>
              </a:rPr>
              <a:t>Where the 66 ORA terms came from</a:t>
            </a:r>
          </a:p>
          <a:p>
            <a:pPr algn="l"/>
            <a:r>
              <a:rPr lang="en-US" sz="1250" dirty="0">
                <a:solidFill>
                  <a:srgbClr val="64748B"/>
                </a:solidFill>
              </a:rPr>
              <a:t>All relaxed genes: 48 terms</a:t>
            </a:r>
          </a:p>
          <a:p>
            <a:pPr algn="l"/>
            <a:r>
              <a:rPr lang="en-US" sz="1250" dirty="0">
                <a:solidFill>
                  <a:srgbClr val="64748B"/>
                </a:solidFill>
              </a:rPr>
              <a:t>Upregulated genes: 8 terms</a:t>
            </a:r>
          </a:p>
          <a:p>
            <a:pPr algn="l"/>
            <a:r>
              <a:rPr lang="en-US" sz="1250" dirty="0">
                <a:solidFill>
                  <a:srgbClr val="64748B"/>
                </a:solidFill>
              </a:rPr>
              <a:t>Downregulated genes: 10 terms</a:t>
            </a:r>
          </a:p>
        </p:txBody>
      </p:sp>
      <p:sp>
        <p:nvSpPr>
          <p:cNvPr id="370" name="relaxed-top-title"/>
          <p:cNvSpPr/>
          <p:nvPr/>
        </p:nvSpPr>
        <p:spPr>
          <a:xfrm>
            <a:off x="5166360" y="2907792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b/>
                <a:solidFill>
                  <a:srgbClr val="172033"/>
                </a:solidFill>
              </a:rPr>
              <a:t>Top relaxed all-gene terms</a:t>
            </a:r>
          </a:p>
        </p:txBody>
      </p:sp>
      <p:sp>
        <p:nvSpPr>
          <p:cNvPr id="380" name="relaxed-term-0"/>
          <p:cNvSpPr/>
          <p:nvPr/>
        </p:nvSpPr>
        <p:spPr>
          <a:xfrm>
            <a:off x="5166360" y="3337560"/>
            <a:ext cx="6126480" cy="2926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172033"/>
                </a:solidFill>
              </a:rPr>
              <a:t>protein binding (GO:MF), p=1.28e-04</a:t>
            </a:r>
          </a:p>
        </p:txBody>
      </p:sp>
      <p:sp>
        <p:nvSpPr>
          <p:cNvPr id="381" name="relaxed-term-1"/>
          <p:cNvSpPr/>
          <p:nvPr/>
        </p:nvSpPr>
        <p:spPr>
          <a:xfrm>
            <a:off x="5166360" y="3721608"/>
            <a:ext cx="61264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172033"/>
                </a:solidFill>
              </a:rPr>
              <a:t>regulation of signaling (GO:BP), p=1.44e-04</a:t>
            </a:r>
          </a:p>
        </p:txBody>
      </p:sp>
      <p:sp>
        <p:nvSpPr>
          <p:cNvPr id="382" name="relaxed-term-2"/>
          <p:cNvSpPr/>
          <p:nvPr/>
        </p:nvSpPr>
        <p:spPr>
          <a:xfrm>
            <a:off x="5166360" y="4105656"/>
            <a:ext cx="6126480" cy="2926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172033"/>
                </a:solidFill>
              </a:rPr>
              <a:t>regulation of cell communication (GO:BP), p=1.51e-04</a:t>
            </a:r>
          </a:p>
        </p:txBody>
      </p:sp>
      <p:sp>
        <p:nvSpPr>
          <p:cNvPr id="383" name="relaxed-term-3"/>
          <p:cNvSpPr/>
          <p:nvPr/>
        </p:nvSpPr>
        <p:spPr>
          <a:xfrm>
            <a:off x="5166360" y="4489704"/>
            <a:ext cx="61264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64748B"/>
                </a:solidFill>
              </a:rPr>
              <a:t>extracellular exosome (GO:CC), p=2.45e-04</a:t>
            </a:r>
          </a:p>
        </p:txBody>
      </p:sp>
      <p:sp>
        <p:nvSpPr>
          <p:cNvPr id="384" name="relaxed-term-4"/>
          <p:cNvSpPr/>
          <p:nvPr/>
        </p:nvSpPr>
        <p:spPr>
          <a:xfrm>
            <a:off x="5166360" y="4873752"/>
            <a:ext cx="6126480" cy="2926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64748B"/>
                </a:solidFill>
              </a:rPr>
              <a:t>regulation of response to stimulus (GO:BP), p=3.13e-04</a:t>
            </a:r>
          </a:p>
        </p:txBody>
      </p:sp>
      <p:sp>
        <p:nvSpPr>
          <p:cNvPr id="385" name="relaxed-term-5"/>
          <p:cNvSpPr/>
          <p:nvPr/>
        </p:nvSpPr>
        <p:spPr>
          <a:xfrm>
            <a:off x="5166360" y="5257800"/>
            <a:ext cx="61264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80" dirty="0">
                <a:solidFill>
                  <a:srgbClr val="64748B"/>
                </a:solidFill>
              </a:rPr>
              <a:t>extracellular vesicle (GO:CC), p=3.14e-04</a:t>
            </a:r>
          </a:p>
        </p:txBody>
      </p:sp>
      <p:sp>
        <p:nvSpPr>
          <p:cNvPr id="390" name="relaxed-caution"/>
          <p:cNvSpPr/>
          <p:nvPr/>
        </p:nvSpPr>
        <p:spPr>
          <a:xfrm>
            <a:off x="914400" y="5623560"/>
            <a:ext cx="10241280" cy="53035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50" dirty="0">
                <a:b/>
                <a:solidFill>
                  <a:srgbClr val="D97706"/>
                </a:solidFill>
              </a:rPr>
              <a:t>Interpretation: the relaxed set gives better pathway discovery power, but it is exploratory because the I2 filter is removed and the effect-size threshold is lower.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/>
          <p:nvPr/>
        </p:nvSpPr>
        <p:spPr>
          <a:xfrm>
            <a:off x="640080" y="41148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 dirty="0">
                <a:b/>
                <a:solidFill>
                  <a:srgbClr val="2563EB"/>
                </a:solidFill>
              </a:rPr>
              <a:t>TAKEAWAY</a:t>
            </a:r>
          </a:p>
        </p:txBody>
      </p:sp>
      <p:sp>
        <p:nvSpPr>
          <p:cNvPr id="11" name="title"/>
          <p:cNvSpPr/>
          <p:nvPr/>
        </p:nvSpPr>
        <p:spPr>
          <a:xfrm>
            <a:off x="640080" y="71323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100" dirty="0">
                <a:b/>
                <a:solidFill>
                  <a:srgbClr val="172033"/>
                </a:solidFill>
              </a:rPr>
              <a:t>What this supports now</a:t>
            </a:r>
          </a:p>
        </p:txBody>
      </p:sp>
      <p:sp>
        <p:nvSpPr>
          <p:cNvPr id="12" name="subtitle"/>
          <p:cNvSpPr/>
          <p:nvPr/>
        </p:nvSpPr>
        <p:spPr>
          <a:xfrm>
            <a:off x="658368" y="135331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dirty="0">
                <a:solidFill>
                  <a:srgbClr val="64748B"/>
                </a:solidFill>
              </a:rPr>
              <a:t>A strong exploratory result, with clear manual-review steps before publication.</a:t>
            </a:r>
          </a:p>
        </p:txBody>
      </p:sp>
      <p:sp>
        <p:nvSpPr>
          <p:cNvPr id="310" name="take-rule-0"/>
          <p:cNvSpPr/>
          <p:nvPr/>
        </p:nvSpPr>
        <p:spPr>
          <a:xfrm>
            <a:off x="822960" y="1920240"/>
            <a:ext cx="82296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320" name="take-0"/>
          <p:cNvSpPr/>
          <p:nvPr/>
        </p:nvSpPr>
        <p:spPr>
          <a:xfrm>
            <a:off x="1005840" y="182880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Defensible claim</a:t>
            </a:r>
          </a:p>
          <a:p>
            <a:pPr algn="l"/>
            <a:r>
              <a:rPr lang="en-US" sz="1450" dirty="0">
                <a:solidFill>
                  <a:srgbClr val="64748B"/>
                </a:solidFill>
              </a:rPr>
              <a:t>A small core set of adipose genes is meta-analytically associated with exercise/lifestyle intervention contexts.</a:t>
            </a:r>
          </a:p>
        </p:txBody>
      </p:sp>
      <p:sp>
        <p:nvSpPr>
          <p:cNvPr id="311" name="take-rule-1"/>
          <p:cNvSpPr/>
          <p:nvPr/>
        </p:nvSpPr>
        <p:spPr>
          <a:xfrm>
            <a:off x="822960" y="3154680"/>
            <a:ext cx="82296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321" name="take-1"/>
          <p:cNvSpPr/>
          <p:nvPr/>
        </p:nvSpPr>
        <p:spPr>
          <a:xfrm>
            <a:off x="1005840" y="306324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Main caveat</a:t>
            </a:r>
          </a:p>
          <a:p>
            <a:pPr algn="l"/>
            <a:r>
              <a:rPr lang="en-US" sz="1450" dirty="0">
                <a:solidFill>
                  <a:srgbClr val="64748B"/>
                </a:solidFill>
              </a:rPr>
              <a:t>The studies are related but not identical; this is not yet a pure endurance-training signature.</a:t>
            </a:r>
          </a:p>
        </p:txBody>
      </p:sp>
      <p:sp>
        <p:nvSpPr>
          <p:cNvPr id="312" name="take-rule-2"/>
          <p:cNvSpPr/>
          <p:nvPr/>
        </p:nvSpPr>
        <p:spPr>
          <a:xfrm>
            <a:off x="822960" y="4389120"/>
            <a:ext cx="82296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mid">
            <a:spAutoFit/>
          </a:bodyPr>
          <a:lstStyle/>
        </p:txBody>
      </p:sp>
      <p:sp>
        <p:nvSpPr>
          <p:cNvPr id="322" name="take-2"/>
          <p:cNvSpPr/>
          <p:nvPr/>
        </p:nvSpPr>
        <p:spPr>
          <a:xfrm>
            <a:off x="1005840" y="429768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dirty="0">
                <a:b/>
                <a:solidFill>
                  <a:srgbClr val="172033"/>
                </a:solidFill>
              </a:rPr>
              <a:t>Next step</a:t>
            </a:r>
          </a:p>
          <a:p>
            <a:pPr algn="l"/>
            <a:r>
              <a:rPr lang="en-US" sz="1450" dirty="0">
                <a:solidFill>
                  <a:srgbClr val="64748B"/>
                </a:solidFill>
              </a:rPr>
              <a:t>Use the audit tables, forest plots, and diet-arm sensitivity to decide what belongs in a manuscript.</a:t>
            </a:r>
          </a:p>
        </p:txBody>
      </p:sp>
      <p:sp>
        <p:nvSpPr>
          <p:cNvPr id="340" name="outputs"/>
          <p:cNvSpPr/>
          <p:nvPr/>
        </p:nvSpPr>
        <p:spPr>
          <a:xfrm>
            <a:off x="1005840" y="562356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dirty="0">
                <a:solidFill>
                  <a:srgbClr val="64748B"/>
                </a:solidFill>
              </a:rPr>
              <a:t>Companion files: summary PDF, strict/relaxed CSVs, forest plots, leave-one-out figures, manuscript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aAnalysisTheme">
  <a:themeElements>
    <a:clrScheme name="Custom">
      <a:dk1>
        <a:srgbClr val="172033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D97706"/>
      </a:accent3>
      <a:accent4>
        <a:srgbClr val="16A34A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Custom">
      <a:majorFont>
        <a:latin typeface="Aptos Display"/>
      </a:majorFont>
      <a:minorFont>
        <a:latin typeface="Aptos"/>
      </a:minorFont>
    </a:fontScheme>
    <a:fmtScheme name="Cust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11</Slide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Meta-analysis results presentation</dc:title>
  <dc:creator>Codex</dc:creator>
  <cp:lastModifiedBy>Codex</cp:lastModifiedBy>
  <dcterms:created xsi:type="dcterms:W3CDTF">2026-06-11T00:00:00Z</dcterms:created>
  <dcterms:modified xsi:type="dcterms:W3CDTF">2026-06-11T00:00:00Z</dcterms:modified>
</cp:coreProperties>
</file>